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1" r:id="rId1"/>
  </p:sldMasterIdLst>
  <p:notesMasterIdLst>
    <p:notesMasterId r:id="rId25"/>
  </p:notesMasterIdLst>
  <p:sldIdLst>
    <p:sldId id="256" r:id="rId2"/>
    <p:sldId id="257" r:id="rId3"/>
    <p:sldId id="258" r:id="rId4"/>
    <p:sldId id="272" r:id="rId5"/>
    <p:sldId id="259" r:id="rId6"/>
    <p:sldId id="273" r:id="rId7"/>
    <p:sldId id="260" r:id="rId8"/>
    <p:sldId id="274" r:id="rId9"/>
    <p:sldId id="261" r:id="rId10"/>
    <p:sldId id="263" r:id="rId11"/>
    <p:sldId id="277" r:id="rId12"/>
    <p:sldId id="278" r:id="rId13"/>
    <p:sldId id="262" r:id="rId14"/>
    <p:sldId id="276" r:id="rId15"/>
    <p:sldId id="264" r:id="rId16"/>
    <p:sldId id="265" r:id="rId17"/>
    <p:sldId id="266" r:id="rId18"/>
    <p:sldId id="275" r:id="rId19"/>
    <p:sldId id="267" r:id="rId20"/>
    <p:sldId id="268" r:id="rId21"/>
    <p:sldId id="269" r:id="rId22"/>
    <p:sldId id="270" r:id="rId23"/>
    <p:sldId id="271"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12" autoAdjust="0"/>
    <p:restoredTop sz="94660"/>
  </p:normalViewPr>
  <p:slideViewPr>
    <p:cSldViewPr snapToGrid="0">
      <p:cViewPr varScale="1">
        <p:scale>
          <a:sx n="70" d="100"/>
          <a:sy n="70"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41566321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6054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6943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1403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2417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28249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4403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5812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8808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046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5149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3534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201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3070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0160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907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4784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227908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347739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855036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740594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889236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055298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769813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54994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859073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43339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501732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79834320"/>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alonikumawat20/My-Project.gi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drive.google.com/drive/folders/1XEcVYM7bdPAxEp8QE-oPHWkULiR-7CX7?usp=sharing"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r>
              <a:rPr lang="en-US" b="1"/>
              <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a:t>
            </a:r>
            <a:r>
              <a:rPr lang="en-US" b="1" i="1" dirty="0" smtClean="0"/>
              <a:t>Granite and IBM BOB”</a:t>
            </a:r>
            <a:endParaRP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754216269"/>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gridCol w="2443375"/>
                <a:gridCol w="2443375"/>
                <a:gridCol w="2443375"/>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900">
                <a:tc>
                  <a:txBody>
                    <a:bodyPr/>
                    <a:lstStyle/>
                    <a:p>
                      <a:pPr marL="0" marR="0" lvl="0" indent="0" algn="ctr" rtl="0">
                        <a:lnSpc>
                          <a:spcPct val="100000"/>
                        </a:lnSpc>
                        <a:spcBef>
                          <a:spcPts val="0"/>
                        </a:spcBef>
                        <a:spcAft>
                          <a:spcPts val="0"/>
                        </a:spcAft>
                        <a:buClr>
                          <a:srgbClr val="000000"/>
                        </a:buClr>
                        <a:buSzPts val="1400"/>
                        <a:buFont typeface="Arial"/>
                        <a:buNone/>
                      </a:pPr>
                      <a:endParaRPr lang="en-US" sz="1800" b="1" u="none" strike="noStrike" cap="none" dirty="0" smtClean="0"/>
                    </a:p>
                    <a:p>
                      <a:pPr marL="0" marR="0" lvl="0" indent="0" algn="ctr" rtl="0">
                        <a:lnSpc>
                          <a:spcPct val="100000"/>
                        </a:lnSpc>
                        <a:spcBef>
                          <a:spcPts val="0"/>
                        </a:spcBef>
                        <a:spcAft>
                          <a:spcPts val="0"/>
                        </a:spcAft>
                        <a:buClr>
                          <a:srgbClr val="000000"/>
                        </a:buClr>
                        <a:buSzPts val="1400"/>
                        <a:buFont typeface="Arial"/>
                        <a:buNone/>
                      </a:pPr>
                      <a:r>
                        <a:rPr lang="en-US" sz="1800" b="1" u="none" strike="noStrike" cap="none" dirty="0" err="1" smtClean="0"/>
                        <a:t>Saloni</a:t>
                      </a:r>
                      <a:r>
                        <a:rPr lang="en-US" sz="1800" b="1" u="none" strike="noStrike" cap="none" dirty="0" smtClean="0"/>
                        <a:t> </a:t>
                      </a:r>
                      <a:r>
                        <a:rPr lang="en-US" sz="1800" b="1" u="none" strike="noStrike" cap="none" dirty="0" err="1" smtClean="0"/>
                        <a:t>Kumawat</a:t>
                      </a:r>
                      <a:endParaRPr sz="18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US" sz="1800" b="1" u="none" strike="noStrike" cap="none" dirty="0" smtClean="0"/>
                    </a:p>
                    <a:p>
                      <a:pPr marL="0" marR="0" lvl="0" indent="0" algn="l" rtl="0">
                        <a:lnSpc>
                          <a:spcPct val="100000"/>
                        </a:lnSpc>
                        <a:spcBef>
                          <a:spcPts val="0"/>
                        </a:spcBef>
                        <a:spcAft>
                          <a:spcPts val="0"/>
                        </a:spcAft>
                        <a:buClr>
                          <a:srgbClr val="000000"/>
                        </a:buClr>
                        <a:buSzPts val="1400"/>
                        <a:buFont typeface="Arial"/>
                        <a:buNone/>
                      </a:pPr>
                      <a:r>
                        <a:rPr lang="en-US" sz="1800" b="1" u="none" strike="noStrike" cap="none" dirty="0" smtClean="0"/>
                        <a:t>salonikumawat324@gmail.com</a:t>
                      </a:r>
                      <a:endParaRPr sz="18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US" sz="1800" b="1" u="none" strike="noStrike" cap="none" dirty="0" smtClean="0"/>
                    </a:p>
                    <a:p>
                      <a:pPr marL="0" marR="0" lvl="0" indent="0" algn="l" rtl="0">
                        <a:lnSpc>
                          <a:spcPct val="100000"/>
                        </a:lnSpc>
                        <a:spcBef>
                          <a:spcPts val="0"/>
                        </a:spcBef>
                        <a:spcAft>
                          <a:spcPts val="0"/>
                        </a:spcAft>
                        <a:buClr>
                          <a:srgbClr val="000000"/>
                        </a:buClr>
                        <a:buSzPts val="1400"/>
                        <a:buFont typeface="Arial"/>
                        <a:buNone/>
                      </a:pPr>
                      <a:r>
                        <a:rPr lang="en-US" sz="1800" b="1" u="none" strike="noStrike" cap="none" dirty="0" smtClean="0"/>
                        <a:t>8279231061</a:t>
                      </a:r>
                      <a:endParaRPr sz="18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pic>
        <p:nvPicPr>
          <p:cNvPr id="87" name="Google Shape;87;p2"/>
          <p:cNvPicPr preferRelativeResize="0"/>
          <p:nvPr/>
        </p:nvPicPr>
        <p:blipFill>
          <a:blip r:embed="rId3">
            <a:extLst>
              <a:ext uri="{28A0092B-C50C-407E-A947-70E740481C1C}">
                <a14:useLocalDpi xmlns:a14="http://schemas.microsoft.com/office/drawing/2010/main" val="0"/>
              </a:ext>
            </a:extLst>
          </a:blip>
          <a:stretch>
            <a:fillRect/>
          </a:stretch>
        </p:blipFill>
        <p:spPr>
          <a:xfrm>
            <a:off x="4060801" y="3672001"/>
            <a:ext cx="705600" cy="952600"/>
          </a:xfrm>
          <a:prstGeom prst="rect">
            <a:avLst/>
          </a:prstGeom>
          <a:noFill/>
          <a:ln>
            <a:noFill/>
          </a:ln>
        </p:spPr>
      </p:pic>
      <p:sp>
        <p:nvSpPr>
          <p:cNvPr id="88" name="Google Shape;88;p2"/>
          <p:cNvSpPr txBox="1"/>
          <p:nvPr/>
        </p:nvSpPr>
        <p:spPr>
          <a:xfrm>
            <a:off x="1206164" y="1460724"/>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Domain of  Project – </a:t>
            </a:r>
            <a:r>
              <a:rPr lang="en-US" sz="2800" b="1" i="0" u="none" strike="noStrike" cap="none" dirty="0" smtClean="0">
                <a:solidFill>
                  <a:srgbClr val="000000"/>
                </a:solidFill>
                <a:highlight>
                  <a:srgbClr val="FFFF00"/>
                </a:highlight>
                <a:latin typeface="Arial"/>
                <a:ea typeface="Arial"/>
                <a:cs typeface="Arial"/>
                <a:sym typeface="Arial"/>
              </a:rPr>
              <a:t>[Education </a:t>
            </a:r>
            <a:r>
              <a:rPr lang="en-US" sz="2800" b="1" i="0" u="none" strike="noStrike" cap="none" dirty="0">
                <a:solidFill>
                  <a:srgbClr val="000000"/>
                </a:solidFill>
                <a:highlight>
                  <a:srgbClr val="FFFF00"/>
                </a:highlight>
                <a:latin typeface="Arial"/>
                <a:ea typeface="Arial"/>
                <a:cs typeface="Arial"/>
                <a:sym typeface="Arial"/>
              </a:rPr>
              <a:t>]</a:t>
            </a:r>
            <a:endParaRPr sz="28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523180"/>
          </a:xfrm>
          <a:prstGeom prst="rect">
            <a:avLst/>
          </a:prstGeom>
          <a:noFill/>
          <a:ln>
            <a:noFill/>
          </a:ln>
        </p:spPr>
        <p:txBody>
          <a:bodyPr spcFirstLastPara="1" wrap="square" lIns="91425" tIns="45700" rIns="91425" bIns="45700" anchor="t" anchorCtr="0">
            <a:spAutoFit/>
          </a:bodyPr>
          <a:lstStyle/>
          <a:p>
            <a:pPr lvl="0"/>
            <a:r>
              <a:rPr lang="en-US" sz="2800" b="1" i="0" u="none" strike="noStrike" cap="none" dirty="0">
                <a:solidFill>
                  <a:srgbClr val="000000"/>
                </a:solidFill>
                <a:sym typeface="Arial"/>
              </a:rPr>
              <a:t>Project Tile – </a:t>
            </a:r>
            <a:r>
              <a:rPr lang="en-US" sz="2800" b="1" i="0" u="none" strike="noStrike" cap="none" dirty="0" smtClean="0">
                <a:solidFill>
                  <a:srgbClr val="000000"/>
                </a:solidFill>
                <a:highlight>
                  <a:srgbClr val="FFFF00"/>
                </a:highlight>
                <a:sym typeface="Arial"/>
              </a:rPr>
              <a:t>[</a:t>
            </a:r>
            <a:r>
              <a:rPr lang="en-US" sz="2800" b="1" dirty="0">
                <a:solidFill>
                  <a:srgbClr val="002060"/>
                </a:solidFill>
                <a:highlight>
                  <a:srgbClr val="FFFF00"/>
                </a:highlight>
                <a:latin typeface="Times New Roman"/>
                <a:ea typeface="Times New Roman"/>
                <a:cs typeface="Times New Roman"/>
                <a:sym typeface="Times New Roman"/>
              </a:rPr>
              <a:t>Course Content Simplification Agent</a:t>
            </a:r>
            <a:r>
              <a:rPr lang="en-US" sz="2800" b="1" i="0" u="none" strike="noStrike" cap="none" dirty="0" smtClean="0">
                <a:solidFill>
                  <a:srgbClr val="000000"/>
                </a:solidFill>
                <a:highlight>
                  <a:srgbClr val="FFFF00"/>
                </a:highlight>
                <a:sym typeface="Arial"/>
              </a:rPr>
              <a:t>]</a:t>
            </a:r>
            <a:endParaRPr sz="2800" b="1" i="0" u="none" strike="noStrike" cap="none" dirty="0">
              <a:solidFill>
                <a:srgbClr val="000000"/>
              </a:solidFill>
              <a:highlight>
                <a:srgbClr val="FFFF00"/>
              </a:highlight>
              <a:sym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776892"/>
            <a:ext cx="10607040" cy="5940047"/>
          </a:xfrm>
          <a:prstGeom prst="rect">
            <a:avLst/>
          </a:prstGeom>
          <a:noFill/>
          <a:ln>
            <a:noFill/>
          </a:ln>
        </p:spPr>
        <p:txBody>
          <a:bodyPr spcFirstLastPara="1" wrap="square" lIns="91425" tIns="45700" rIns="91425" bIns="45700" anchor="t" anchorCtr="0">
            <a:spAutoFit/>
          </a:bodyPr>
          <a:lstStyle/>
          <a:p>
            <a:pPr lvl="0"/>
            <a:r>
              <a:rPr lang="en-US" sz="2000" b="1" i="0" u="none" strike="noStrike" cap="none" dirty="0">
                <a:solidFill>
                  <a:srgbClr val="000000"/>
                </a:solidFill>
                <a:sym typeface="Arial"/>
              </a:rPr>
              <a:t>Problem Statement : </a:t>
            </a:r>
            <a:r>
              <a:rPr lang="en-US" sz="2000" b="1" dirty="0" smtClean="0"/>
              <a:t>Course </a:t>
            </a:r>
            <a:r>
              <a:rPr lang="en-US" sz="2000" b="1" dirty="0"/>
              <a:t>Content Simplification Agent</a:t>
            </a:r>
            <a:endParaRPr sz="2000" b="1" dirty="0" smtClean="0"/>
          </a:p>
          <a:p>
            <a:pPr marL="0" marR="0" lvl="0" indent="0" algn="l" rtl="0">
              <a:lnSpc>
                <a:spcPct val="100000"/>
              </a:lnSpc>
              <a:spcBef>
                <a:spcPts val="0"/>
              </a:spcBef>
              <a:spcAft>
                <a:spcPts val="0"/>
              </a:spcAft>
              <a:buNone/>
            </a:pPr>
            <a:endParaRPr sz="2000" b="1" i="0" u="none" strike="noStrike" cap="none" dirty="0" smtClean="0">
              <a:solidFill>
                <a:srgbClr val="000000"/>
              </a:solidFill>
              <a:sym typeface="Arial"/>
            </a:endParaRPr>
          </a:p>
          <a:p>
            <a:pPr marL="0" marR="0" lvl="0" indent="0" algn="l" rtl="0">
              <a:lnSpc>
                <a:spcPct val="100000"/>
              </a:lnSpc>
              <a:spcBef>
                <a:spcPts val="0"/>
              </a:spcBef>
              <a:spcAft>
                <a:spcPts val="0"/>
              </a:spcAft>
              <a:buNone/>
            </a:pPr>
            <a:r>
              <a:rPr lang="en-US" sz="2000" b="1" i="0" u="none" strike="noStrike" cap="none" dirty="0" smtClean="0">
                <a:solidFill>
                  <a:srgbClr val="000000"/>
                </a:solidFill>
                <a:sym typeface="Arial"/>
              </a:rPr>
              <a:t>The </a:t>
            </a:r>
            <a:r>
              <a:rPr lang="en-US" sz="2000" b="1" i="0" u="none" strike="noStrike" cap="none" dirty="0">
                <a:solidFill>
                  <a:srgbClr val="000000"/>
                </a:solidFill>
                <a:sym typeface="Arial"/>
              </a:rPr>
              <a:t>Challenge</a:t>
            </a:r>
            <a:r>
              <a:rPr lang="en-US" sz="2000" b="0" i="0" u="none" strike="noStrike" cap="none" dirty="0">
                <a:solidFill>
                  <a:srgbClr val="000000"/>
                </a:solidFill>
                <a:sym typeface="Arial"/>
              </a:rPr>
              <a:t> </a:t>
            </a:r>
            <a:endParaRPr sz="2000" dirty="0"/>
          </a:p>
          <a:p>
            <a:pPr lvl="0"/>
            <a:r>
              <a:rPr lang="en-US" sz="2000" dirty="0"/>
              <a:t>Educational content is often presented in complex language that is difficult for students with different levels of prior knowledge to understand. Faculty notes, textbooks, and study materials frequently contain technical jargon, lengthy explanations, and advanced concepts that can overwhelm learners. Without </a:t>
            </a:r>
            <a:r>
              <a:rPr lang="en-US" sz="2000" b="1" dirty="0"/>
              <a:t>personalized, real-time academic assistance</a:t>
            </a:r>
            <a:r>
              <a:rPr lang="en-US" sz="2000" dirty="0"/>
              <a:t>, students struggle to grasp key ideas, leading to reduced learning efficiency and engagement.</a:t>
            </a:r>
            <a:r>
              <a:rPr lang="en-US" sz="2000" b="0" i="0" u="none" strike="noStrike" cap="none" dirty="0" smtClean="0">
                <a:solidFill>
                  <a:srgbClr val="000000"/>
                </a:solidFill>
                <a:sym typeface="Arial"/>
              </a:rPr>
              <a:t>.</a:t>
            </a:r>
            <a:r>
              <a:rPr lang="en-US" sz="2000" b="0" i="0" u="none" strike="noStrike" cap="none" dirty="0">
                <a:solidFill>
                  <a:srgbClr val="000000"/>
                </a:solidFill>
                <a:sym typeface="Arial"/>
              </a:rPr>
              <a:t> </a:t>
            </a:r>
            <a:endParaRPr sz="2000" dirty="0"/>
          </a:p>
          <a:p>
            <a:pPr marL="0" marR="0" lvl="0" indent="0" algn="l" rtl="0">
              <a:lnSpc>
                <a:spcPct val="100000"/>
              </a:lnSpc>
              <a:spcBef>
                <a:spcPts val="0"/>
              </a:spcBef>
              <a:spcAft>
                <a:spcPts val="0"/>
              </a:spcAft>
              <a:buNone/>
            </a:pPr>
            <a:endParaRPr sz="2000" b="0" i="0" u="none" strike="noStrike" cap="none" dirty="0">
              <a:solidFill>
                <a:srgbClr val="000000"/>
              </a:solidFill>
              <a:sym typeface="Arial"/>
            </a:endParaRPr>
          </a:p>
          <a:p>
            <a:pPr marL="0" marR="0" lvl="0" indent="0" algn="l" rtl="0">
              <a:lnSpc>
                <a:spcPct val="100000"/>
              </a:lnSpc>
              <a:spcBef>
                <a:spcPts val="0"/>
              </a:spcBef>
              <a:spcAft>
                <a:spcPts val="0"/>
              </a:spcAft>
              <a:buNone/>
            </a:pPr>
            <a:r>
              <a:rPr lang="en-US" sz="2000" b="1" i="0" u="none" strike="noStrike" cap="none" dirty="0">
                <a:solidFill>
                  <a:srgbClr val="000000"/>
                </a:solidFill>
                <a:sym typeface="Arial"/>
              </a:rPr>
              <a:t>The Objective</a:t>
            </a:r>
            <a:r>
              <a:rPr lang="en-US" sz="2000" b="0" i="0" u="none" strike="noStrike" cap="none" dirty="0">
                <a:solidFill>
                  <a:srgbClr val="000000"/>
                </a:solidFill>
                <a:sym typeface="Arial"/>
              </a:rPr>
              <a:t> </a:t>
            </a:r>
            <a:endParaRPr sz="2000" dirty="0"/>
          </a:p>
          <a:p>
            <a:r>
              <a:rPr lang="en-US" sz="2000" dirty="0"/>
              <a:t>Build an </a:t>
            </a:r>
            <a:r>
              <a:rPr lang="en-US" sz="2000" b="1" dirty="0"/>
              <a:t>AI-powered Course Content Simplification Agent</a:t>
            </a:r>
            <a:r>
              <a:rPr lang="en-US" sz="2000" dirty="0"/>
              <a:t> that delivers </a:t>
            </a:r>
            <a:r>
              <a:rPr lang="en-US" sz="2000" b="1" dirty="0"/>
              <a:t>personalized learning assistance</a:t>
            </a:r>
            <a:r>
              <a:rPr lang="en-US" sz="2000" dirty="0"/>
              <a:t> for students, educators, and academic institutions. The solution should:</a:t>
            </a:r>
          </a:p>
          <a:p>
            <a:pPr marL="285750" indent="-285750">
              <a:buFont typeface="Arial" panose="020B0604020202020204" pitchFamily="34" charset="0"/>
              <a:buChar char="•"/>
            </a:pPr>
            <a:r>
              <a:rPr lang="en-US" sz="2000" b="1" dirty="0"/>
              <a:t>Adaptive Content Simplification</a:t>
            </a:r>
            <a:r>
              <a:rPr lang="en-US" sz="2000" dirty="0"/>
              <a:t> – Analyze academic content and rewrite explanations based on the learner's proficiency level, such as Beginner, Intermediate, Advanced, or Expert.</a:t>
            </a:r>
          </a:p>
          <a:p>
            <a:pPr marL="285750" indent="-285750">
              <a:buFont typeface="Arial" panose="020B0604020202020204" pitchFamily="34" charset="0"/>
              <a:buChar char="•"/>
            </a:pPr>
            <a:r>
              <a:rPr lang="en-US" sz="2000" b="1" dirty="0"/>
              <a:t>Academic Content Analysis</a:t>
            </a:r>
            <a:r>
              <a:rPr lang="en-US" sz="2000" dirty="0"/>
              <a:t> – Understand faculty notes, textbooks, PDFs, and study materials to identify key concepts, technical terms, and important topics, then generate simplified explanations and concise summaries</a:t>
            </a:r>
            <a:r>
              <a:rPr lang="en-US" sz="2000" dirty="0" smtClean="0"/>
              <a:t>.</a:t>
            </a:r>
            <a:endParaRPr lang="en-US" sz="2000" dirty="0"/>
          </a:p>
        </p:txBody>
      </p:sp>
      <p:sp>
        <p:nvSpPr>
          <p:cNvPr id="96" name="Google Shape;96;p34"/>
          <p:cNvSpPr txBox="1"/>
          <p:nvPr/>
        </p:nvSpPr>
        <p:spPr>
          <a:xfrm>
            <a:off x="576072" y="253712"/>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mj-lt"/>
                <a:ea typeface="Arial"/>
                <a:cs typeface="Arial"/>
                <a:sym typeface="Arial"/>
              </a:rPr>
              <a:t>Problem Statement -</a:t>
            </a:r>
            <a:endParaRPr sz="2800" b="1" i="0" u="none" strike="noStrike" cap="none" dirty="0">
              <a:solidFill>
                <a:srgbClr val="000000"/>
              </a:solidFill>
              <a:latin typeface="+mj-lt"/>
              <a:ea typeface="Arial"/>
              <a:cs typeface="Arial"/>
              <a:sym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838200" y="432262"/>
            <a:ext cx="10515600" cy="5744701"/>
          </a:xfrm>
        </p:spPr>
        <p:txBody>
          <a:bodyPr>
            <a:normAutofit/>
          </a:bodyPr>
          <a:lstStyle/>
          <a:p>
            <a:pPr marL="285750" indent="-285750">
              <a:buFont typeface="Arial" panose="020B0604020202020204" pitchFamily="34" charset="0"/>
              <a:buChar char="•"/>
            </a:pPr>
            <a:r>
              <a:rPr lang="en-US" sz="2000" b="1" dirty="0">
                <a:latin typeface="+mn-lt"/>
              </a:rPr>
              <a:t>Interactive Learning Support</a:t>
            </a:r>
            <a:r>
              <a:rPr lang="en-US" sz="2000" dirty="0">
                <a:latin typeface="+mn-lt"/>
              </a:rPr>
              <a:t> – Allow users to upload documents or enter text and receive simplified content, keyword definitions, real-world examples, analogies, and answers to follow-up questions.</a:t>
            </a:r>
          </a:p>
          <a:p>
            <a:pPr marL="0" lvl="0" indent="0">
              <a:lnSpc>
                <a:spcPct val="100000"/>
              </a:lnSpc>
              <a:spcBef>
                <a:spcPts val="0"/>
              </a:spcBef>
              <a:buNone/>
            </a:pPr>
            <a:endParaRPr lang="en-US" sz="1400" dirty="0">
              <a:solidFill>
                <a:srgbClr val="000000"/>
              </a:solidFill>
              <a:latin typeface="Arial"/>
              <a:ea typeface="Arial"/>
              <a:cs typeface="Arial"/>
              <a:sym typeface="Arial"/>
            </a:endParaRPr>
          </a:p>
          <a:p>
            <a:pPr marL="285750" indent="-285750">
              <a:buFont typeface="Arial" panose="020B0604020202020204" pitchFamily="34" charset="0"/>
              <a:buChar char="•"/>
            </a:pPr>
            <a:r>
              <a:rPr lang="en-US" sz="2000" b="1" dirty="0" smtClean="0">
                <a:latin typeface="+mn-lt"/>
              </a:rPr>
              <a:t>Personalized </a:t>
            </a:r>
            <a:r>
              <a:rPr lang="en-US" sz="2000" b="1" dirty="0">
                <a:latin typeface="+mn-lt"/>
              </a:rPr>
              <a:t>Learning Guidance</a:t>
            </a:r>
            <a:r>
              <a:rPr lang="en-US" sz="2000" dirty="0">
                <a:latin typeface="+mn-lt"/>
              </a:rPr>
              <a:t> – Recommend study strategies, learning resources, and practice materials based on the student's academic profile, subject, and current level of understanding.</a:t>
            </a:r>
          </a:p>
          <a:p>
            <a:pPr marL="285750" indent="-285750">
              <a:buFont typeface="Arial" panose="020B0604020202020204" pitchFamily="34" charset="0"/>
              <a:buChar char="•"/>
            </a:pPr>
            <a:r>
              <a:rPr lang="en-US" sz="2000" b="1" dirty="0">
                <a:latin typeface="+mn-lt"/>
              </a:rPr>
              <a:t>Multi-Agent System</a:t>
            </a:r>
            <a:r>
              <a:rPr lang="en-US" sz="2000" dirty="0">
                <a:latin typeface="+mn-lt"/>
              </a:rPr>
              <a:t> –</a:t>
            </a:r>
          </a:p>
          <a:p>
            <a:pPr marL="285750" indent="-285750">
              <a:buFont typeface="Arial" panose="020B0604020202020204" pitchFamily="34" charset="0"/>
              <a:buChar char="•"/>
            </a:pPr>
            <a:r>
              <a:rPr lang="en-US" sz="2000" b="1" dirty="0">
                <a:latin typeface="+mn-lt"/>
              </a:rPr>
              <a:t>Content Analysis Agent</a:t>
            </a:r>
            <a:r>
              <a:rPr lang="en-US" sz="2000" dirty="0">
                <a:latin typeface="+mn-lt"/>
              </a:rPr>
              <a:t> (extracts and understands academic concepts) </a:t>
            </a:r>
          </a:p>
          <a:p>
            <a:pPr marL="285750" indent="-285750">
              <a:buFont typeface="Arial" panose="020B0604020202020204" pitchFamily="34" charset="0"/>
              <a:buChar char="•"/>
            </a:pPr>
            <a:r>
              <a:rPr lang="en-US" sz="2000" b="1" dirty="0">
                <a:latin typeface="+mn-lt"/>
              </a:rPr>
              <a:t>Content Simplification Agent</a:t>
            </a:r>
            <a:r>
              <a:rPr lang="en-US" sz="2000" dirty="0">
                <a:latin typeface="+mn-lt"/>
              </a:rPr>
              <a:t> (rewrites content based on the selected learning level) </a:t>
            </a:r>
          </a:p>
          <a:p>
            <a:pPr marL="285750" indent="-285750">
              <a:buFont typeface="Arial" panose="020B0604020202020204" pitchFamily="34" charset="0"/>
              <a:buChar char="•"/>
            </a:pPr>
            <a:r>
              <a:rPr lang="en-US" sz="2000" b="1" dirty="0">
                <a:latin typeface="+mn-lt"/>
              </a:rPr>
              <a:t>Learning Assistance Agent</a:t>
            </a:r>
            <a:r>
              <a:rPr lang="en-US" sz="2000" dirty="0">
                <a:latin typeface="+mn-lt"/>
              </a:rPr>
              <a:t> (provides explanations, examples, analogies, and answers student queries) </a:t>
            </a:r>
          </a:p>
          <a:p>
            <a:pPr marL="285750" indent="-285750">
              <a:buFont typeface="Arial" panose="020B0604020202020204" pitchFamily="34" charset="0"/>
              <a:buChar char="•"/>
            </a:pPr>
            <a:r>
              <a:rPr lang="en-US" sz="2000" b="1" dirty="0">
                <a:latin typeface="+mn-lt"/>
              </a:rPr>
              <a:t>Assessment &amp; Practice Agent</a:t>
            </a:r>
            <a:r>
              <a:rPr lang="en-US" sz="2000" dirty="0">
                <a:latin typeface="+mn-lt"/>
              </a:rPr>
              <a:t> (generates summaries, quizzes, flashcards, and practice questions) </a:t>
            </a:r>
          </a:p>
          <a:p>
            <a:pPr marL="285750" indent="-285750">
              <a:buFont typeface="Arial" panose="020B0604020202020204" pitchFamily="34" charset="0"/>
              <a:buChar char="•"/>
            </a:pPr>
            <a:r>
              <a:rPr lang="en-US" sz="2000" b="1" dirty="0">
                <a:latin typeface="+mn-lt"/>
              </a:rPr>
              <a:t>Learning Dashboard</a:t>
            </a:r>
            <a:r>
              <a:rPr lang="en-US" sz="2000" dirty="0">
                <a:latin typeface="+mn-lt"/>
              </a:rPr>
              <a:t> – Display uploaded documents, simplified content, generated summaries, quizzes, flashcards, learning progress, bookmarked topics, and personalized study recommendations.</a:t>
            </a:r>
          </a:p>
          <a:p>
            <a:endParaRPr lang="en-US" sz="2000" dirty="0">
              <a:latin typeface="+mn-lt"/>
            </a:endParaRPr>
          </a:p>
        </p:txBody>
      </p:sp>
    </p:spTree>
    <p:extLst>
      <p:ext uri="{BB962C8B-B14F-4D97-AF65-F5344CB8AC3E}">
        <p14:creationId xmlns:p14="http://schemas.microsoft.com/office/powerpoint/2010/main" val="2361667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729025"/>
            <a:ext cx="10607040" cy="60631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r>
              <a:rPr lang="en-US" sz="2000" b="1" dirty="0"/>
              <a:t>Proposed Solution</a:t>
            </a:r>
            <a:r>
              <a:rPr lang="en-US" sz="2000" b="1" dirty="0" smtClean="0"/>
              <a:t>: </a:t>
            </a:r>
            <a:r>
              <a:rPr lang="en-US" sz="2000" b="1" dirty="0"/>
              <a:t>Course Content Simplification </a:t>
            </a:r>
            <a:r>
              <a:rPr lang="en-US" sz="2000" b="1" dirty="0" smtClean="0"/>
              <a:t>Agent</a:t>
            </a:r>
            <a:r>
              <a:rPr lang="en-US" sz="2000" dirty="0"/>
              <a:t/>
            </a:r>
            <a:br>
              <a:rPr lang="en-US" sz="2000" dirty="0"/>
            </a:br>
            <a:r>
              <a:rPr lang="en-US" sz="2000" dirty="0"/>
              <a:t>The proposed solution is a </a:t>
            </a:r>
            <a:r>
              <a:rPr lang="en-US" sz="2000" b="1" dirty="0"/>
              <a:t>multi-agent AI-powered Course Content Simplification Agent</a:t>
            </a:r>
            <a:r>
              <a:rPr lang="en-US" sz="2000" dirty="0"/>
              <a:t> built using </a:t>
            </a:r>
            <a:r>
              <a:rPr lang="en-US" sz="2000" b="1" dirty="0"/>
              <a:t>Python Flask, IBM watsonx.ai, and Granite Models</a:t>
            </a:r>
            <a:r>
              <a:rPr lang="en-US" sz="2000" dirty="0"/>
              <a:t> to provide personalized, real-time learning assistance. The system addresses challenges in understanding complex academic content by intelligently analyzing educational materials and adapting explanations according to each learner's proficiency level through an intelligent, modular architecture</a:t>
            </a:r>
            <a:r>
              <a:rPr lang="en-US" sz="2000" dirty="0" smtClean="0"/>
              <a:t>.</a:t>
            </a:r>
            <a:endParaRPr sz="2000" dirty="0" smtClean="0"/>
          </a:p>
          <a:p>
            <a:pPr lvl="0"/>
            <a:r>
              <a:rPr lang="en-US" sz="2000" dirty="0"/>
              <a:t>At its core, the solution uses </a:t>
            </a:r>
            <a:r>
              <a:rPr lang="en-US" sz="2000" b="1" dirty="0"/>
              <a:t>IBM Granite Models</a:t>
            </a:r>
            <a:r>
              <a:rPr lang="en-US" sz="2000" dirty="0"/>
              <a:t> to analyze faculty notes, textbooks, PDFs, and study materials. The AI understands the context of educational content, extracts key concepts, identifies technical terminology, and generates simplified explanations, concise summaries, and personalized learning resources based on the student's selected learning level. The system also supports document upload and interactive question-answering to enhance the learning experience</a:t>
            </a:r>
            <a:r>
              <a:rPr lang="en-US" sz="2000" dirty="0" smtClean="0"/>
              <a:t>.</a:t>
            </a:r>
            <a:r>
              <a:rPr lang="en-US" sz="2000" dirty="0"/>
              <a:t/>
            </a:r>
            <a:br>
              <a:rPr lang="en-US" sz="2000" dirty="0"/>
            </a:br>
            <a:r>
              <a:rPr lang="en-US" sz="2000" dirty="0"/>
              <a:t>The system consists of </a:t>
            </a:r>
            <a:r>
              <a:rPr lang="en-US" sz="2000" b="1" dirty="0"/>
              <a:t>four key agents</a:t>
            </a:r>
            <a:r>
              <a:rPr lang="en-US" sz="2000" dirty="0"/>
              <a:t>:</a:t>
            </a:r>
            <a:r>
              <a:rPr lang="en-US" sz="2000" b="0" i="0" u="none" strike="noStrike" cap="none" dirty="0" smtClean="0">
                <a:solidFill>
                  <a:srgbClr val="000000"/>
                </a:solidFill>
                <a:sym typeface="Arial"/>
              </a:rPr>
              <a:t>:</a:t>
            </a:r>
            <a:endParaRPr sz="2000" dirty="0" smtClean="0"/>
          </a:p>
          <a:p>
            <a:r>
              <a:rPr lang="en-US" sz="2000" b="1" dirty="0"/>
              <a:t>Content Analysis Agent</a:t>
            </a:r>
            <a:r>
              <a:rPr lang="en-US" sz="2000" dirty="0"/>
              <a:t> extracts key concepts, technical terms, learning objectives, and important information from uploaded academic content.</a:t>
            </a:r>
          </a:p>
          <a:p>
            <a:r>
              <a:rPr lang="en-US" sz="2000" b="1" dirty="0"/>
              <a:t>Content Simplification Agent</a:t>
            </a:r>
            <a:r>
              <a:rPr lang="en-US" sz="2000" dirty="0"/>
              <a:t> rewrites complex educational material into easy-to-understand explanations tailored to Beginner, Intermediate, Advanced, or Expert learners</a:t>
            </a:r>
            <a:r>
              <a:rPr lang="en-US" sz="2000" dirty="0" smtClean="0"/>
              <a:t>.</a:t>
            </a:r>
          </a:p>
          <a:p>
            <a:endParaRPr lang="en-US" sz="20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89720" y="267360"/>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mj-lt"/>
                <a:ea typeface="Arial"/>
                <a:cs typeface="Arial"/>
                <a:sym typeface="Arial"/>
              </a:rPr>
              <a:t>Proposed Solution -</a:t>
            </a:r>
            <a:endParaRPr sz="2800" b="1" i="0" u="none" strike="noStrike" cap="none" dirty="0">
              <a:solidFill>
                <a:srgbClr val="000000"/>
              </a:solidFill>
              <a:latin typeface="+mj-lt"/>
              <a:ea typeface="Arial"/>
              <a:cs typeface="Arial"/>
              <a:sym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838200" y="432262"/>
            <a:ext cx="10515600" cy="5744701"/>
          </a:xfrm>
        </p:spPr>
        <p:txBody>
          <a:bodyPr>
            <a:normAutofit/>
          </a:bodyPr>
          <a:lstStyle/>
          <a:p>
            <a:r>
              <a:rPr lang="en-US" sz="2000" b="1" dirty="0">
                <a:latin typeface="+mn-lt"/>
              </a:rPr>
              <a:t>Learning Assistance Agent</a:t>
            </a:r>
            <a:r>
              <a:rPr lang="en-US" sz="2000" dirty="0">
                <a:latin typeface="+mn-lt"/>
              </a:rPr>
              <a:t> provides keyword definitions, real-world examples, analogies, personalized explanations, and answers follow-up questions related to the uploaded content.</a:t>
            </a:r>
          </a:p>
          <a:p>
            <a:r>
              <a:rPr lang="en-US" sz="2000" b="1" dirty="0">
                <a:latin typeface="+mn-lt"/>
              </a:rPr>
              <a:t>Assessment &amp; Practice Agent</a:t>
            </a:r>
            <a:r>
              <a:rPr lang="en-US" sz="2000" dirty="0">
                <a:latin typeface="+mn-lt"/>
              </a:rPr>
              <a:t> generates summaries, quizzes, flashcards, practice questions, and study recommendations to reinforce learning and improve knowledge retention.</a:t>
            </a:r>
          </a:p>
          <a:p>
            <a:pPr lvl="0"/>
            <a:r>
              <a:rPr lang="en-US" sz="2000" dirty="0">
                <a:latin typeface="+mn-lt"/>
              </a:rPr>
              <a:t>The solution includes a </a:t>
            </a:r>
            <a:r>
              <a:rPr lang="en-US" sz="2000" b="1" dirty="0">
                <a:latin typeface="+mn-lt"/>
              </a:rPr>
              <a:t>user-friendly responsive web interface</a:t>
            </a:r>
            <a:r>
              <a:rPr lang="en-US" sz="2000" dirty="0">
                <a:latin typeface="+mn-lt"/>
              </a:rPr>
              <a:t> built with </a:t>
            </a:r>
            <a:r>
              <a:rPr lang="en-US" sz="2000" b="1" dirty="0">
                <a:latin typeface="+mn-lt"/>
              </a:rPr>
              <a:t>Flask, HTML, Bootstrap, CSS, and JavaScript</a:t>
            </a:r>
            <a:r>
              <a:rPr lang="en-US" sz="2000" dirty="0">
                <a:latin typeface="+mn-lt"/>
              </a:rPr>
              <a:t>, featuring an AI chat interface, document upload, learning level selection, simplified content display, quiz generation, flashcards, dark mode, and a personalized learning dashboard for tracking study progress.</a:t>
            </a:r>
          </a:p>
          <a:p>
            <a:pPr lvl="0"/>
            <a:r>
              <a:rPr lang="en-US" sz="2000" b="1" dirty="0">
                <a:latin typeface="+mn-lt"/>
              </a:rPr>
              <a:t>IBM watsonx.ai </a:t>
            </a:r>
            <a:r>
              <a:rPr lang="en-US" sz="2000" dirty="0">
                <a:latin typeface="+mn-lt"/>
              </a:rPr>
              <a:t>provides secure access to </a:t>
            </a:r>
            <a:r>
              <a:rPr lang="en-US" sz="2000" b="1" dirty="0">
                <a:latin typeface="+mn-lt"/>
              </a:rPr>
              <a:t>Granite Models</a:t>
            </a:r>
            <a:r>
              <a:rPr lang="en-US" sz="2000" dirty="0">
                <a:latin typeface="+mn-lt"/>
              </a:rPr>
              <a:t> for content analysis, summarization, explanation generation, and adaptive learning. IBM Cloud credentials are securely managed using a </a:t>
            </a:r>
            <a:r>
              <a:rPr lang="en-US" sz="2000" b="1" dirty="0">
                <a:latin typeface="+mn-lt"/>
              </a:rPr>
              <a:t>.</a:t>
            </a:r>
            <a:r>
              <a:rPr lang="en-US" sz="2000" b="1" dirty="0" err="1">
                <a:latin typeface="+mn-lt"/>
              </a:rPr>
              <a:t>env</a:t>
            </a:r>
            <a:r>
              <a:rPr lang="en-US" sz="2000" b="1" dirty="0">
                <a:latin typeface="+mn-lt"/>
              </a:rPr>
              <a:t> </a:t>
            </a:r>
            <a:r>
              <a:rPr lang="en-US" sz="2000" dirty="0">
                <a:latin typeface="+mn-lt"/>
              </a:rPr>
              <a:t>file, and the application supports deployment on </a:t>
            </a:r>
            <a:r>
              <a:rPr lang="en-US" sz="2000" b="1" dirty="0">
                <a:latin typeface="+mn-lt"/>
              </a:rPr>
              <a:t>IBM Cloud Lite</a:t>
            </a:r>
            <a:r>
              <a:rPr lang="en-US" sz="2000" dirty="0">
                <a:latin typeface="+mn-lt"/>
              </a:rPr>
              <a:t> or local environments.</a:t>
            </a:r>
            <a:br>
              <a:rPr lang="en-US" sz="2000" dirty="0">
                <a:latin typeface="+mn-lt"/>
              </a:rPr>
            </a:br>
            <a:r>
              <a:rPr lang="en-US" sz="2000" dirty="0">
                <a:latin typeface="+mn-lt"/>
              </a:rPr>
              <a:t>Overall, the solution provides an AI-powered educational assistant that simplifies complex academic content, enhances personalized learning, and improves student understanding through intelligent content simplification and interactive learning support.</a:t>
            </a:r>
            <a:endParaRPr lang="en-US" sz="2000" dirty="0">
              <a:solidFill>
                <a:srgbClr val="000000"/>
              </a:solidFill>
              <a:latin typeface="+mn-lt"/>
              <a:ea typeface="Arial"/>
              <a:cs typeface="Arial"/>
              <a:sym typeface="Arial"/>
            </a:endParaRPr>
          </a:p>
          <a:p>
            <a:endParaRPr lang="en-US" dirty="0"/>
          </a:p>
        </p:txBody>
      </p:sp>
    </p:spTree>
    <p:extLst>
      <p:ext uri="{BB962C8B-B14F-4D97-AF65-F5344CB8AC3E}">
        <p14:creationId xmlns:p14="http://schemas.microsoft.com/office/powerpoint/2010/main" val="1720786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807513" y="218400"/>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a:t>
            </a:r>
            <a:endParaRPr sz="28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668058" y="741580"/>
            <a:ext cx="10515600" cy="6001603"/>
          </a:xfrm>
          <a:prstGeom prst="rect">
            <a:avLst/>
          </a:prstGeom>
          <a:noFill/>
          <a:ln>
            <a:noFill/>
          </a:ln>
        </p:spPr>
        <p:txBody>
          <a:bodyPr spcFirstLastPara="1" wrap="square" lIns="91425" tIns="45700" rIns="91425" bIns="45700" anchor="t" anchorCtr="0">
            <a:spAutoFit/>
          </a:bodyPr>
          <a:lstStyle/>
          <a:p>
            <a:pPr marL="285750" indent="-285750">
              <a:buFont typeface="Arial" panose="020B0604020202020204" pitchFamily="34" charset="0"/>
              <a:buChar char="•"/>
            </a:pPr>
            <a:r>
              <a:rPr lang="en-US" sz="2000" b="1" dirty="0"/>
              <a:t>Python Flask</a:t>
            </a:r>
            <a:r>
              <a:rPr lang="en-US" sz="2000" dirty="0"/>
              <a:t> – For developing the backend, managing APIs, user authentication, file uploads, and application logic</a:t>
            </a:r>
            <a:r>
              <a:rPr lang="en-US" sz="2000" dirty="0" smtClean="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Granite Model</a:t>
            </a:r>
            <a:r>
              <a:rPr lang="en-US" sz="2000" dirty="0"/>
              <a:t> </a:t>
            </a:r>
            <a:r>
              <a:rPr lang="en-US" sz="2000" i="1" dirty="0"/>
              <a:t>(e.g., ibm-granite-3-3-8b-instruct)</a:t>
            </a:r>
            <a:r>
              <a:rPr lang="en-US" sz="2000" dirty="0"/>
              <a:t> – For academic content analysis, natural language understanding, content simplification, summarization, and personalized learning</a:t>
            </a:r>
            <a:r>
              <a:rPr lang="en-US" sz="2000" dirty="0" smtClean="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Cloud Lite</a:t>
            </a:r>
            <a:r>
              <a:rPr lang="en-US" sz="2000" dirty="0"/>
              <a:t> – Provides a secure, reliable, and scalable cloud platform for deploying the Course Content Simplification Agent</a:t>
            </a:r>
            <a:r>
              <a:rPr lang="en-US" sz="2000" dirty="0" smtClean="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watsonx.ai</a:t>
            </a:r>
            <a:r>
              <a:rPr lang="en-US" sz="2000" dirty="0"/>
              <a:t> – For accessing and deploying IBM Granite models to perform AI-powered content analysis and explanation generation</a:t>
            </a:r>
            <a:r>
              <a:rPr lang="en-US" sz="2000" dirty="0" smtClean="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SQLite (</a:t>
            </a:r>
            <a:r>
              <a:rPr lang="en-US" sz="2000" b="1" dirty="0" err="1"/>
              <a:t>SQLAlchemy</a:t>
            </a:r>
            <a:r>
              <a:rPr lang="en-US" sz="2000" b="1" dirty="0"/>
              <a:t>)</a:t>
            </a:r>
            <a:r>
              <a:rPr lang="en-US" sz="2000" dirty="0"/>
              <a:t> – For storing user accounts, uploaded documents, chat history, quizzes, bookmarks, and learning progress</a:t>
            </a:r>
            <a:r>
              <a:rPr lang="en-US" sz="2000" dirty="0" smtClean="0"/>
              <a:t>.</a:t>
            </a:r>
          </a:p>
          <a:p>
            <a:pPr marL="285750" indent="-285750">
              <a:buFont typeface="Arial" panose="020B0604020202020204" pitchFamily="34" charset="0"/>
              <a:buChar char="•"/>
            </a:pPr>
            <a:endParaRPr lang="en-US" sz="2000" dirty="0"/>
          </a:p>
          <a:p>
            <a:pPr marL="400050" marR="0" lvl="0" indent="-285750" algn="l" rtl="0">
              <a:lnSpc>
                <a:spcPct val="100000"/>
              </a:lnSpc>
              <a:spcBef>
                <a:spcPts val="0"/>
              </a:spcBef>
              <a:spcAft>
                <a:spcPts val="0"/>
              </a:spcAft>
              <a:buClr>
                <a:srgbClr val="000000"/>
              </a:buClr>
              <a:buSzPts val="1800"/>
              <a:buFont typeface="Arial" panose="020B0604020202020204" pitchFamily="34" charset="0"/>
              <a:buChar char="•"/>
            </a:pPr>
            <a:endParaRPr sz="1800" b="0" i="0" u="none" strike="noStrike" cap="none" dirty="0" smtClean="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838200" y="448887"/>
            <a:ext cx="10515600" cy="5728076"/>
          </a:xfrm>
        </p:spPr>
        <p:txBody>
          <a:bodyPr/>
          <a:lstStyle/>
          <a:p>
            <a:pPr marL="285750" indent="-285750">
              <a:buFont typeface="Arial" panose="020B0604020202020204" pitchFamily="34" charset="0"/>
              <a:buChar char="•"/>
            </a:pPr>
            <a:r>
              <a:rPr lang="en-US" sz="2000" b="1" dirty="0">
                <a:latin typeface="+mn-lt"/>
              </a:rPr>
              <a:t>PyPDF2 &amp; Python-</a:t>
            </a:r>
            <a:r>
              <a:rPr lang="en-US" sz="2000" b="1" dirty="0" err="1">
                <a:latin typeface="+mn-lt"/>
              </a:rPr>
              <a:t>Docx</a:t>
            </a:r>
            <a:r>
              <a:rPr lang="en-US" sz="2000" dirty="0">
                <a:latin typeface="+mn-lt"/>
              </a:rPr>
              <a:t> – For extracting text from PDF and DOCX files for AI-based processing and simplification.</a:t>
            </a:r>
          </a:p>
          <a:p>
            <a:pPr marL="285750" indent="-285750">
              <a:buFont typeface="Arial" panose="020B0604020202020204" pitchFamily="34" charset="0"/>
              <a:buChar char="•"/>
            </a:pPr>
            <a:endParaRPr lang="en-US" sz="2000" dirty="0">
              <a:latin typeface="+mn-lt"/>
            </a:endParaRPr>
          </a:p>
          <a:p>
            <a:pPr marL="285750" indent="-285750">
              <a:buFont typeface="Arial" panose="020B0604020202020204" pitchFamily="34" charset="0"/>
              <a:buChar char="•"/>
            </a:pPr>
            <a:r>
              <a:rPr lang="en-US" sz="2000" b="1" dirty="0">
                <a:latin typeface="+mn-lt"/>
              </a:rPr>
              <a:t>HTML, CSS, Bootstrap &amp; JavaScript</a:t>
            </a:r>
            <a:r>
              <a:rPr lang="en-US" sz="2000" dirty="0">
                <a:latin typeface="+mn-lt"/>
              </a:rPr>
              <a:t> – For building a responsive, interactive, and user-friendly web interface.</a:t>
            </a:r>
          </a:p>
          <a:p>
            <a:pPr marL="285750" indent="-285750">
              <a:buFont typeface="Arial" panose="020B0604020202020204" pitchFamily="34" charset="0"/>
              <a:buChar char="•"/>
            </a:pPr>
            <a:endParaRPr lang="en-US" sz="2000" dirty="0">
              <a:latin typeface="+mn-lt"/>
            </a:endParaRPr>
          </a:p>
          <a:p>
            <a:pPr marL="285750" indent="-285750">
              <a:buFont typeface="Arial" panose="020B0604020202020204" pitchFamily="34" charset="0"/>
              <a:buChar char="•"/>
            </a:pPr>
            <a:r>
              <a:rPr lang="en-US" sz="2000" b="1" dirty="0">
                <a:latin typeface="+mn-lt"/>
              </a:rPr>
              <a:t>Python-</a:t>
            </a:r>
            <a:r>
              <a:rPr lang="en-US" sz="2000" b="1" dirty="0" err="1">
                <a:latin typeface="+mn-lt"/>
              </a:rPr>
              <a:t>dotenv</a:t>
            </a:r>
            <a:r>
              <a:rPr lang="en-US" sz="2000" b="1" dirty="0">
                <a:latin typeface="+mn-lt"/>
              </a:rPr>
              <a:t> (.</a:t>
            </a:r>
            <a:r>
              <a:rPr lang="en-US" sz="2000" b="1" dirty="0" err="1">
                <a:latin typeface="+mn-lt"/>
              </a:rPr>
              <a:t>env</a:t>
            </a:r>
            <a:r>
              <a:rPr lang="en-US" sz="2000" b="1" dirty="0">
                <a:latin typeface="+mn-lt"/>
              </a:rPr>
              <a:t>)</a:t>
            </a:r>
            <a:r>
              <a:rPr lang="en-US" sz="2000" dirty="0">
                <a:latin typeface="+mn-lt"/>
              </a:rPr>
              <a:t> – For securely managing IBM Cloud API keys and application configuration.</a:t>
            </a:r>
          </a:p>
          <a:p>
            <a:endParaRPr lang="en-US" dirty="0"/>
          </a:p>
        </p:txBody>
      </p:sp>
    </p:spTree>
    <p:extLst>
      <p:ext uri="{BB962C8B-B14F-4D97-AF65-F5344CB8AC3E}">
        <p14:creationId xmlns:p14="http://schemas.microsoft.com/office/powerpoint/2010/main" val="36937994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720411" y="144705"/>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latin typeface="+mj-lt"/>
              </a:rPr>
              <a:t>C</a:t>
            </a:r>
            <a:r>
              <a:rPr lang="en-US" sz="2800" b="1" i="0" u="none" strike="noStrike" cap="none" dirty="0" smtClean="0">
                <a:solidFill>
                  <a:srgbClr val="000000"/>
                </a:solidFill>
                <a:latin typeface="+mj-lt"/>
                <a:sym typeface="Arial"/>
              </a:rPr>
              <a:t>omponent </a:t>
            </a:r>
            <a:r>
              <a:rPr lang="en-US" sz="2800" b="1" i="0" u="none" strike="noStrike" cap="none" dirty="0">
                <a:solidFill>
                  <a:srgbClr val="000000"/>
                </a:solidFill>
                <a:latin typeface="+mj-lt"/>
                <a:sym typeface="Arial"/>
              </a:rPr>
              <a:t>Used -</a:t>
            </a:r>
            <a:endParaRPr sz="2800" b="1" i="0" u="none" strike="noStrike" cap="none" dirty="0">
              <a:solidFill>
                <a:srgbClr val="000000"/>
              </a:solidFill>
              <a:latin typeface="+mj-lt"/>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831576" y="593213"/>
            <a:ext cx="10806242" cy="7571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342900" indent="-342900">
              <a:buAutoNum type="arabicParenR"/>
            </a:pPr>
            <a:r>
              <a:rPr lang="en-US" sz="2000" b="1" dirty="0" smtClean="0"/>
              <a:t>Chat </a:t>
            </a:r>
            <a:r>
              <a:rPr lang="en-US" sz="2000" b="1" dirty="0"/>
              <a:t>Input</a:t>
            </a:r>
            <a:r>
              <a:rPr lang="en-US" sz="2000" dirty="0"/>
              <a:t> – Interface where students enter academic queries or upload study materials (PDF, DOCX, TXT) for simplification and </a:t>
            </a:r>
            <a:r>
              <a:rPr lang="en-US" sz="2000" dirty="0" smtClean="0"/>
              <a:t>analysis</a:t>
            </a:r>
          </a:p>
          <a:p>
            <a:endParaRPr lang="en-US" sz="2000" dirty="0" smtClean="0"/>
          </a:p>
          <a:p>
            <a:r>
              <a:rPr lang="en-US" sz="2000" b="1" dirty="0" smtClean="0"/>
              <a:t>2</a:t>
            </a:r>
            <a:r>
              <a:rPr lang="en-US" sz="2000" b="1" dirty="0"/>
              <a:t>) IBM watsonx.ai Agent</a:t>
            </a:r>
            <a:r>
              <a:rPr lang="en-US" sz="2000" dirty="0"/>
              <a:t> – Processes user queries and uploaded content using IBM Granite models to generate simplified explanations, summaries, quizzes, and learning support</a:t>
            </a:r>
            <a:r>
              <a:rPr lang="en-US" sz="2000" dirty="0" smtClean="0"/>
              <a:t>.</a:t>
            </a:r>
          </a:p>
          <a:p>
            <a:endParaRPr lang="en-US" sz="2000" dirty="0"/>
          </a:p>
          <a:p>
            <a:r>
              <a:rPr lang="en-US" sz="2000" b="1" dirty="0"/>
              <a:t>3) IBM Granite Model</a:t>
            </a:r>
            <a:r>
              <a:rPr lang="en-US" sz="2000" dirty="0"/>
              <a:t> </a:t>
            </a:r>
            <a:r>
              <a:rPr lang="en-US" sz="2000" i="1" dirty="0"/>
              <a:t>(e.g., Granite-3.3-8B-Instruct)</a:t>
            </a:r>
            <a:r>
              <a:rPr lang="en-US" sz="2000" dirty="0"/>
              <a:t> – Performs natural language understanding, content simplification, summarization, keyword explanation, and personalized educational assistance</a:t>
            </a:r>
            <a:r>
              <a:rPr lang="en-US" sz="2000" dirty="0" smtClean="0"/>
              <a:t>.</a:t>
            </a:r>
          </a:p>
          <a:p>
            <a:endParaRPr lang="en-US" sz="2000" dirty="0"/>
          </a:p>
          <a:p>
            <a:r>
              <a:rPr lang="en-US" sz="2000" b="1" dirty="0"/>
              <a:t>4) Chat Output</a:t>
            </a:r>
            <a:r>
              <a:rPr lang="en-US" sz="2000" dirty="0"/>
              <a:t> – Displays AI-generated simplified content, summaries, explanations, examples, quiz questions, and answers to student queries</a:t>
            </a:r>
            <a:r>
              <a:rPr lang="en-US" sz="2000" dirty="0" smtClean="0"/>
              <a:t>.</a:t>
            </a:r>
          </a:p>
          <a:p>
            <a:endParaRPr lang="en-US" sz="2000" dirty="0"/>
          </a:p>
          <a:p>
            <a:r>
              <a:rPr lang="en-US" sz="2000" b="1" dirty="0"/>
              <a:t>5) File Upload Component</a:t>
            </a:r>
            <a:r>
              <a:rPr lang="en-US" sz="2000" dirty="0"/>
              <a:t> – Allows users to upload PDF, DOCX, and TXT files, extracts the text, and prepares it for AI-based analysis and simplification</a:t>
            </a:r>
            <a:r>
              <a:rPr lang="en-US" sz="2000" dirty="0" smtClean="0"/>
              <a:t>.</a:t>
            </a:r>
          </a:p>
          <a:p>
            <a:endParaRPr lang="en-US" sz="2000" dirty="0"/>
          </a:p>
          <a:p>
            <a:r>
              <a:rPr lang="en-US" sz="2000" b="1" dirty="0"/>
              <a:t>6) Learning Level Selector</a:t>
            </a:r>
            <a:r>
              <a:rPr lang="en-US" sz="2000" dirty="0"/>
              <a:t> – Enables users to choose their proficiency level (Beginner, Intermediate, Advanced, or Expert) so the AI can tailor explanations accordingly.</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899" y="771747"/>
            <a:ext cx="10058400" cy="56139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2526"/>
          </a:xfrm>
        </p:spPr>
        <p:txBody>
          <a:bodyPr>
            <a:normAutofit/>
          </a:bodyPr>
          <a:lstStyle/>
          <a:p>
            <a:r>
              <a:rPr lang="en-US" sz="2800" b="1" dirty="0" smtClean="0">
                <a:latin typeface="+mj-lt"/>
              </a:rPr>
              <a:t>IBM BOB Screenshot</a:t>
            </a:r>
            <a:endParaRPr lang="en-US" sz="2800" b="1" dirty="0">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2" y="1077955"/>
            <a:ext cx="5187142" cy="276445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925" y="1077955"/>
            <a:ext cx="5187142" cy="276445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2" y="3972710"/>
            <a:ext cx="5187142" cy="276445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0925" y="3972709"/>
            <a:ext cx="5187142" cy="2764451"/>
          </a:xfrm>
          <a:prstGeom prst="rect">
            <a:avLst/>
          </a:prstGeom>
        </p:spPr>
      </p:pic>
    </p:spTree>
    <p:extLst>
      <p:ext uri="{BB962C8B-B14F-4D97-AF65-F5344CB8AC3E}">
        <p14:creationId xmlns:p14="http://schemas.microsoft.com/office/powerpoint/2010/main" val="21045577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98763" y="931027"/>
            <a:ext cx="10440786" cy="5549056"/>
          </a:xfrm>
          <a:prstGeom prst="rect">
            <a:avLst/>
          </a:prstGeom>
        </p:spPr>
      </p:pic>
      <p:sp>
        <p:nvSpPr>
          <p:cNvPr id="6" name="Rectangle 5"/>
          <p:cNvSpPr/>
          <p:nvPr/>
        </p:nvSpPr>
        <p:spPr>
          <a:xfrm>
            <a:off x="498763" y="232756"/>
            <a:ext cx="7399563" cy="523220"/>
          </a:xfrm>
          <a:prstGeom prst="rect">
            <a:avLst/>
          </a:prstGeom>
        </p:spPr>
        <p:txBody>
          <a:bodyPr wrap="square">
            <a:spAutoFit/>
          </a:bodyPr>
          <a:lstStyle/>
          <a:p>
            <a:r>
              <a:rPr lang="en-US" sz="2800" b="1" dirty="0"/>
              <a:t>IBM BOB Screenshot</a:t>
            </a:r>
            <a:endParaRPr lang="en-US" sz="2800" dirty="0"/>
          </a:p>
        </p:txBody>
      </p:sp>
    </p:spTree>
    <p:extLst>
      <p:ext uri="{BB962C8B-B14F-4D97-AF65-F5344CB8AC3E}">
        <p14:creationId xmlns:p14="http://schemas.microsoft.com/office/powerpoint/2010/main" val="8459792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800" b="1" dirty="0"/>
              <a:t>Application Screenshots</a:t>
            </a:r>
            <a:r>
              <a:rPr lang="en-US" sz="2800" dirty="0"/>
              <a:t>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98" y="1044954"/>
            <a:ext cx="3807479" cy="2029169"/>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8071" y="1044954"/>
            <a:ext cx="3919348" cy="2088788"/>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5513" y="1061106"/>
            <a:ext cx="3858732" cy="2056484"/>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2498" y="3572382"/>
            <a:ext cx="3720439" cy="1982782"/>
          </a:xfrm>
          <a:prstGeom prst="rect">
            <a:avLst/>
          </a:prstGeom>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44868" y="3632519"/>
            <a:ext cx="4170637" cy="2222712"/>
          </a:xfrm>
          <a:prstGeom prst="rect">
            <a:avLst/>
          </a:prstGeom>
        </p:spPr>
      </p:pic>
      <p:pic>
        <p:nvPicPr>
          <p:cNvPr id="8" name="Picture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09977" y="3632519"/>
            <a:ext cx="3780504" cy="20147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138" y="0"/>
            <a:ext cx="10515600" cy="864525"/>
          </a:xfrm>
        </p:spPr>
        <p:txBody>
          <a:bodyPr>
            <a:normAutofit/>
          </a:bodyPr>
          <a:lstStyle/>
          <a:p>
            <a:r>
              <a:rPr lang="en-US" sz="2800" b="1" dirty="0">
                <a:latin typeface="+mj-lt"/>
              </a:rPr>
              <a:t>Application Screenshots</a:t>
            </a:r>
            <a:r>
              <a:rPr lang="en-US" sz="2800" dirty="0">
                <a:latin typeface="+mj-lt"/>
              </a:rPr>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54" y="864526"/>
            <a:ext cx="3890357" cy="207333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737" y="849299"/>
            <a:ext cx="3906982" cy="208219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9846" y="849299"/>
            <a:ext cx="3896817" cy="2076781"/>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67" y="3355643"/>
            <a:ext cx="3794677" cy="2022346"/>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88326" y="3355642"/>
            <a:ext cx="3925390" cy="2092009"/>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46719" y="3304650"/>
            <a:ext cx="3892645" cy="2074558"/>
          </a:xfrm>
          <a:prstGeom prst="rect">
            <a:avLst/>
          </a:prstGeom>
        </p:spPr>
      </p:pic>
    </p:spTree>
    <p:extLst>
      <p:ext uri="{BB962C8B-B14F-4D97-AF65-F5344CB8AC3E}">
        <p14:creationId xmlns:p14="http://schemas.microsoft.com/office/powerpoint/2010/main" val="40414336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a:t>
            </a:r>
            <a:endParaRPr sz="28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621792" y="1167493"/>
            <a:ext cx="7406640" cy="5016718"/>
          </a:xfrm>
          <a:prstGeom prst="rect">
            <a:avLst/>
          </a:prstGeom>
          <a:noFill/>
          <a:ln>
            <a:noFill/>
          </a:ln>
        </p:spPr>
        <p:txBody>
          <a:bodyPr spcFirstLastPara="1" wrap="square" lIns="91425" tIns="45700" rIns="91425" bIns="45700" anchor="t" anchorCtr="0">
            <a:spAutoFit/>
          </a:bodyPr>
          <a:lstStyle/>
          <a:p>
            <a:pPr lvl="0"/>
            <a:r>
              <a:rPr lang="en-US" sz="1600" b="1" i="0" u="none" strike="noStrike" cap="none" dirty="0" smtClean="0">
                <a:solidFill>
                  <a:srgbClr val="000000"/>
                </a:solidFill>
                <a:sym typeface="Arial"/>
              </a:rPr>
              <a:t>Role of Agentic AI in </a:t>
            </a:r>
            <a:r>
              <a:rPr lang="en-US" sz="1600" b="1" dirty="0" smtClean="0"/>
              <a:t>the Course Content Simplification Agent</a:t>
            </a:r>
            <a:endParaRPr sz="1600" b="1" dirty="0" smtClean="0"/>
          </a:p>
          <a:p>
            <a:r>
              <a:rPr lang="en-US" sz="1600" dirty="0"/>
              <a:t>Agentic AI in the Role of Course Content Simplification Agent</a:t>
            </a:r>
          </a:p>
          <a:p>
            <a:r>
              <a:rPr lang="en-US" sz="1600" dirty="0"/>
              <a:t>The Agentic AI helps the Course Content Simplification Agent become a learning assistant instead of becoming just another </a:t>
            </a:r>
            <a:r>
              <a:rPr lang="en-US" sz="1600" dirty="0" err="1"/>
              <a:t>chatbot</a:t>
            </a:r>
            <a:r>
              <a:rPr lang="en-US" sz="1600" dirty="0"/>
              <a:t> using the IBM watsonx.ai and IBM Granite model where different agents are coordinated for providing personalized learning services</a:t>
            </a:r>
            <a:r>
              <a:rPr lang="en-US" sz="1600" dirty="0" smtClean="0"/>
              <a:t>.</a:t>
            </a:r>
            <a:r>
              <a:rPr lang="en-US" sz="1600" dirty="0"/>
              <a:t/>
            </a:r>
            <a:br>
              <a:rPr lang="en-US" sz="1600" dirty="0"/>
            </a:br>
            <a:r>
              <a:rPr lang="en-US" sz="1600" dirty="0"/>
              <a:t>The different roles of each agent include analysis of the academic content, simplification of complex concepts, summarization of the academic content, explanation of technical terminology and making of quizzes in a collaborative manner..</a:t>
            </a:r>
            <a:endParaRPr lang="en-US" sz="1600" dirty="0" smtClean="0"/>
          </a:p>
          <a:p>
            <a:r>
              <a:rPr lang="en-US" sz="1600" dirty="0"/>
              <a:t>The Agentic AI also helps the agents become context-aware about the proficiency level of the learners, subject-wise knowledge and learning preference to give personalized explanations. The Agentic AI also helps in real time adaptation of the content complexity based on user inputs and learning levels</a:t>
            </a:r>
            <a:r>
              <a:rPr lang="en-US" sz="1600" dirty="0" smtClean="0"/>
              <a:t>.</a:t>
            </a:r>
            <a:br>
              <a:rPr lang="en-US" sz="1600" dirty="0" smtClean="0"/>
            </a:br>
            <a:r>
              <a:rPr lang="en-US" sz="1600" dirty="0" smtClean="0"/>
              <a:t>Additionally, the agents communicate with each other, enabling better content analysis, personalized recommendations, and improved learning outcomes.</a:t>
            </a:r>
          </a:p>
          <a:p>
            <a:r>
              <a:rPr lang="en-US" sz="1600" dirty="0" smtClean="0"/>
              <a:t>Overall, Agentic AI makes the system </a:t>
            </a:r>
            <a:r>
              <a:rPr lang="en-US" sz="1600" b="1" dirty="0" smtClean="0"/>
              <a:t>intelligent, adaptive, and learner-centric</a:t>
            </a:r>
            <a:r>
              <a:rPr lang="en-US" sz="1600" dirty="0" smtClean="0"/>
              <a:t>, acting as a smart educational assistant that simplifies complex academic content and enhances the overall learning experience.</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800" b="1" i="0" u="none" strike="noStrike" cap="none" dirty="0">
                <a:solidFill>
                  <a:srgbClr val="000000"/>
                </a:solidFill>
                <a:latin typeface="Arial"/>
                <a:ea typeface="Arial"/>
                <a:cs typeface="Arial"/>
                <a:sym typeface="Arial"/>
              </a:rPr>
              <a:t>Token Usage </a:t>
            </a:r>
            <a:endParaRPr sz="28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smtClean="0">
                <a:solidFill>
                  <a:srgbClr val="000000"/>
                </a:solidFill>
                <a:sym typeface="Arial"/>
              </a:rPr>
              <a:t>19,820 </a:t>
            </a:r>
            <a:r>
              <a:rPr lang="en-US" sz="2000" b="0" i="0" u="none" strike="noStrike" cap="none" dirty="0">
                <a:solidFill>
                  <a:srgbClr val="000000"/>
                </a:solidFill>
                <a:sym typeface="Arial"/>
              </a:rPr>
              <a:t>token are used</a:t>
            </a:r>
            <a:endParaRPr sz="2000" dirty="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r="46" b="17339"/>
          <a:stretch/>
        </p:blipFill>
        <p:spPr>
          <a:xfrm>
            <a:off x="1472555" y="1579419"/>
            <a:ext cx="8402965" cy="44888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351628"/>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010286"/>
            <a:ext cx="11301984" cy="5324494"/>
          </a:xfrm>
          <a:prstGeom prst="rect">
            <a:avLst/>
          </a:prstGeom>
          <a:noFill/>
          <a:ln>
            <a:noFill/>
          </a:ln>
        </p:spPr>
        <p:txBody>
          <a:bodyPr spcFirstLastPara="1" wrap="square" lIns="91425" tIns="45700" rIns="91425" bIns="45700" anchor="t" anchorCtr="0">
            <a:spAutoFit/>
          </a:bodyPr>
          <a:lstStyle/>
          <a:p>
            <a:r>
              <a:rPr lang="en-US" sz="2000" dirty="0"/>
              <a:t>The proposed </a:t>
            </a:r>
            <a:r>
              <a:rPr lang="en-US" sz="2000" b="1" dirty="0"/>
              <a:t>Course Content Simplification Agent</a:t>
            </a:r>
            <a:r>
              <a:rPr lang="en-US" sz="2000" dirty="0"/>
              <a:t> combines </a:t>
            </a:r>
            <a:r>
              <a:rPr lang="en-US" sz="2000" b="1" dirty="0"/>
              <a:t>Agentic AI</a:t>
            </a:r>
            <a:r>
              <a:rPr lang="en-US" sz="2000" dirty="0"/>
              <a:t>, </a:t>
            </a:r>
            <a:r>
              <a:rPr lang="en-US" sz="2000" b="1" dirty="0"/>
              <a:t>IBM Granite models</a:t>
            </a:r>
            <a:r>
              <a:rPr lang="en-US" sz="2000" dirty="0"/>
              <a:t>, and </a:t>
            </a:r>
            <a:r>
              <a:rPr lang="en-US" sz="2000" b="1" dirty="0"/>
              <a:t>personalized learning</a:t>
            </a:r>
            <a:r>
              <a:rPr lang="en-US" sz="2000" dirty="0"/>
              <a:t> to make academic content easier to understand for students with different learning levels.</a:t>
            </a:r>
          </a:p>
          <a:p>
            <a:pPr marL="285750" indent="-285750">
              <a:buFont typeface="Arial" panose="020B0604020202020204" pitchFamily="34" charset="0"/>
              <a:buChar char="•"/>
            </a:pPr>
            <a:r>
              <a:rPr lang="en-US" sz="2000" b="1" dirty="0"/>
              <a:t>Multi-Agent Intelligence</a:t>
            </a:r>
            <a:r>
              <a:rPr lang="en-US" sz="2000" dirty="0"/>
              <a:t> – Multiple AI agents work together to analyze content, simplify complex concepts, generate summaries, explain keywords, and create quizzes for a better learning experience. </a:t>
            </a:r>
          </a:p>
          <a:p>
            <a:pPr marL="285750" indent="-285750">
              <a:buFont typeface="Arial" panose="020B0604020202020204" pitchFamily="34" charset="0"/>
              <a:buChar char="•"/>
            </a:pPr>
            <a:r>
              <a:rPr lang="en-US" sz="2000" b="1" dirty="0"/>
              <a:t>Personalized Learning</a:t>
            </a:r>
            <a:r>
              <a:rPr lang="en-US" sz="2000" dirty="0"/>
              <a:t> – The agent adapts explanations based on the learner's selected proficiency level, such as Beginner, Intermediate, Advanced, or Expert, making learning more effective. </a:t>
            </a:r>
          </a:p>
          <a:p>
            <a:pPr marL="285750" indent="-285750">
              <a:buFont typeface="Arial" panose="020B0604020202020204" pitchFamily="34" charset="0"/>
              <a:buChar char="•"/>
            </a:pPr>
            <a:r>
              <a:rPr lang="en-US" sz="2000" b="1" dirty="0" smtClean="0"/>
              <a:t>Interactive Content Support</a:t>
            </a:r>
            <a:r>
              <a:rPr lang="en-US" sz="2000" dirty="0" smtClean="0"/>
              <a:t> – Students can upload study materials or ask questions in natural language and receive simplified explanations, examples, and follow-up assistance instantly. </a:t>
            </a:r>
          </a:p>
          <a:p>
            <a:pPr marL="285750" indent="-285750">
              <a:buFont typeface="Arial" panose="020B0604020202020204" pitchFamily="34" charset="0"/>
              <a:buChar char="•"/>
            </a:pPr>
            <a:r>
              <a:rPr lang="en-US" sz="2000" b="1" dirty="0" smtClean="0"/>
              <a:t>Comprehensive Learning Assistance</a:t>
            </a:r>
            <a:r>
              <a:rPr lang="en-US" sz="2000" dirty="0" smtClean="0"/>
              <a:t> – In addition to simplifying content, the system generates summaries, flashcards, quizzes, and key concept explanations to improve understanding and retention. </a:t>
            </a:r>
          </a:p>
          <a:p>
            <a:pPr marL="285750" indent="-285750">
              <a:buFont typeface="Arial" panose="020B0604020202020204" pitchFamily="34" charset="0"/>
              <a:buChar char="•"/>
            </a:pPr>
            <a:r>
              <a:rPr lang="en-US" sz="2000" b="1" dirty="0" smtClean="0"/>
              <a:t>AI-Powered Document Analysis</a:t>
            </a:r>
            <a:r>
              <a:rPr lang="en-US" sz="2000" dirty="0" smtClean="0"/>
              <a:t> – The agent can process faculty notes, textbooks, PDFs, and study materials to identify important topics and present them in a clear, easy-to-understand format. </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838200" y="532015"/>
            <a:ext cx="10515600" cy="5644948"/>
          </a:xfrm>
        </p:spPr>
        <p:txBody>
          <a:bodyPr/>
          <a:lstStyle/>
          <a:p>
            <a:pPr marL="285750" indent="-285750">
              <a:buFont typeface="Arial" panose="020B0604020202020204" pitchFamily="34" charset="0"/>
              <a:buChar char="•"/>
            </a:pPr>
            <a:r>
              <a:rPr lang="en-US" sz="2000" b="1" dirty="0">
                <a:latin typeface="+mn-lt"/>
              </a:rPr>
              <a:t>Modern and Student-Friendly Experience</a:t>
            </a:r>
            <a:r>
              <a:rPr lang="en-US" sz="2000" dirty="0">
                <a:latin typeface="+mn-lt"/>
              </a:rPr>
              <a:t> – The responsive interface, learning dashboard, dark mode, and interactive chat make studying more engaging and accessible across devices. </a:t>
            </a:r>
          </a:p>
          <a:p>
            <a:pPr marL="285750" indent="-285750">
              <a:buFont typeface="Arial" panose="020B0604020202020204" pitchFamily="34" charset="0"/>
              <a:buChar char="•"/>
            </a:pPr>
            <a:r>
              <a:rPr lang="en-US" sz="2000" b="1" dirty="0">
                <a:latin typeface="+mn-lt"/>
              </a:rPr>
              <a:t>Scalable and Reliable</a:t>
            </a:r>
            <a:r>
              <a:rPr lang="en-US" sz="2000" dirty="0">
                <a:latin typeface="+mn-lt"/>
              </a:rPr>
              <a:t> – Built using </a:t>
            </a:r>
            <a:r>
              <a:rPr lang="en-US" sz="2000" b="1" dirty="0">
                <a:latin typeface="+mn-lt"/>
              </a:rPr>
              <a:t>IBM watsonx.ai</a:t>
            </a:r>
            <a:r>
              <a:rPr lang="en-US" sz="2000" dirty="0">
                <a:latin typeface="+mn-lt"/>
              </a:rPr>
              <a:t> and </a:t>
            </a:r>
            <a:r>
              <a:rPr lang="en-US" sz="2000" b="1" dirty="0">
                <a:latin typeface="+mn-lt"/>
              </a:rPr>
              <a:t>IBM Granite models</a:t>
            </a:r>
            <a:r>
              <a:rPr lang="en-US" sz="2000" dirty="0">
                <a:latin typeface="+mn-lt"/>
              </a:rPr>
              <a:t>, the solution provides secure, reliable, and scalable AI-powered educational support. </a:t>
            </a:r>
          </a:p>
          <a:p>
            <a:r>
              <a:rPr lang="en-US" sz="2000" b="1" dirty="0">
                <a:latin typeface="+mn-lt"/>
              </a:rPr>
              <a:t>This makes the solution more than just a content summarizer—it acts as an intelligent learning assistant that adapts to each student's needs, simplifies complex academic material, and supports a more personalized and effective learning experience.</a:t>
            </a:r>
            <a:endParaRPr lang="en-US" sz="2000" dirty="0">
              <a:latin typeface="+mn-lt"/>
            </a:endParaRPr>
          </a:p>
          <a:p>
            <a:pPr marL="0" lvl="0" indent="0">
              <a:lnSpc>
                <a:spcPct val="100000"/>
              </a:lnSpc>
              <a:spcBef>
                <a:spcPts val="0"/>
              </a:spcBef>
              <a:buNone/>
            </a:pPr>
            <a:endParaRPr lang="en-US" dirty="0">
              <a:solidFill>
                <a:srgbClr val="000000"/>
              </a:solidFill>
              <a:sym typeface="Arial"/>
            </a:endParaRPr>
          </a:p>
          <a:p>
            <a:endParaRPr lang="en-US" dirty="0"/>
          </a:p>
        </p:txBody>
      </p:sp>
    </p:spTree>
    <p:extLst>
      <p:ext uri="{BB962C8B-B14F-4D97-AF65-F5344CB8AC3E}">
        <p14:creationId xmlns:p14="http://schemas.microsoft.com/office/powerpoint/2010/main" val="18429308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3" y="420729"/>
            <a:ext cx="8225527"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800" b="1" dirty="0"/>
              <a:t>GitHub Repository &amp; Working Demo Video</a:t>
            </a:r>
            <a:endParaRPr sz="2800" b="1" i="0" u="none" strike="noStrike" cap="none" dirty="0">
              <a:solidFill>
                <a:srgbClr val="000000"/>
              </a:solidFill>
              <a:sym typeface="Arial"/>
            </a:endParaRPr>
          </a:p>
        </p:txBody>
      </p:sp>
      <p:sp>
        <p:nvSpPr>
          <p:cNvPr id="164" name="Google Shape;164;p41"/>
          <p:cNvSpPr/>
          <p:nvPr/>
        </p:nvSpPr>
        <p:spPr>
          <a:xfrm>
            <a:off x="1218724" y="1619225"/>
            <a:ext cx="10103211" cy="4660025"/>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i="0" u="none" strike="noStrike" cap="none" dirty="0" err="1" smtClean="0">
                <a:solidFill>
                  <a:srgbClr val="2B3541"/>
                </a:solidFill>
                <a:latin typeface="+mn-lt"/>
                <a:ea typeface="Times New Roman"/>
                <a:cs typeface="Times New Roman"/>
                <a:sym typeface="Times New Roman"/>
              </a:rPr>
              <a:t>Github</a:t>
            </a:r>
            <a:r>
              <a:rPr lang="en-US" sz="2000" b="1" i="0" u="none" strike="noStrike" cap="none" dirty="0" smtClean="0">
                <a:solidFill>
                  <a:srgbClr val="2B3541"/>
                </a:solidFill>
                <a:latin typeface="+mn-lt"/>
                <a:ea typeface="Times New Roman"/>
                <a:cs typeface="Times New Roman"/>
                <a:sym typeface="Times New Roman"/>
              </a:rPr>
              <a:t> </a:t>
            </a:r>
            <a:r>
              <a:rPr lang="en-US" sz="2000" b="1" i="0" u="none" strike="noStrike" cap="none" dirty="0">
                <a:solidFill>
                  <a:srgbClr val="2B3541"/>
                </a:solidFill>
                <a:latin typeface="+mn-lt"/>
                <a:ea typeface="Times New Roman"/>
                <a:cs typeface="Times New Roman"/>
                <a:sym typeface="Times New Roman"/>
              </a:rPr>
              <a:t>URL </a:t>
            </a:r>
            <a:r>
              <a:rPr lang="en-US" sz="2000" dirty="0" smtClean="0">
                <a:solidFill>
                  <a:srgbClr val="2B3541"/>
                </a:solidFill>
                <a:latin typeface="+mn-lt"/>
                <a:ea typeface="Times New Roman"/>
                <a:cs typeface="Times New Roman"/>
                <a:sym typeface="Times New Roman"/>
              </a:rPr>
              <a:t>- </a:t>
            </a:r>
            <a:r>
              <a:rPr lang="en-US" sz="2000" b="1" dirty="0" smtClean="0">
                <a:solidFill>
                  <a:srgbClr val="2B3541"/>
                </a:solidFill>
                <a:latin typeface="+mn-lt"/>
                <a:ea typeface="Times New Roman"/>
                <a:cs typeface="Times New Roman"/>
                <a:sym typeface="Times New Roman"/>
                <a:hlinkClick r:id="rId3"/>
              </a:rPr>
              <a:t>https</a:t>
            </a:r>
            <a:r>
              <a:rPr lang="en-US" sz="2000" b="1" dirty="0">
                <a:solidFill>
                  <a:srgbClr val="2B3541"/>
                </a:solidFill>
                <a:latin typeface="+mn-lt"/>
                <a:ea typeface="Times New Roman"/>
                <a:cs typeface="Times New Roman"/>
                <a:sym typeface="Times New Roman"/>
                <a:hlinkClick r:id="rId3"/>
              </a:rPr>
              <a:t>://</a:t>
            </a:r>
            <a:r>
              <a:rPr lang="en-US" sz="2000" b="1" dirty="0" smtClean="0">
                <a:solidFill>
                  <a:srgbClr val="2B3541"/>
                </a:solidFill>
                <a:latin typeface="+mn-lt"/>
                <a:ea typeface="Times New Roman"/>
                <a:cs typeface="Times New Roman"/>
                <a:sym typeface="Times New Roman"/>
                <a:hlinkClick r:id="rId3"/>
              </a:rPr>
              <a:t>github.com/salonikumawat20/My-Project.git</a:t>
            </a:r>
            <a:r>
              <a:rPr lang="en-US" sz="2000" b="1" dirty="0" smtClean="0">
                <a:solidFill>
                  <a:srgbClr val="2B3541"/>
                </a:solidFill>
                <a:latin typeface="+mn-lt"/>
                <a:ea typeface="Times New Roman"/>
                <a:cs typeface="Times New Roman"/>
                <a:sym typeface="Times New Roman"/>
              </a:rPr>
              <a:t/>
            </a:r>
            <a:br>
              <a:rPr lang="en-US" sz="2000" b="1" dirty="0" smtClean="0">
                <a:solidFill>
                  <a:srgbClr val="2B3541"/>
                </a:solidFill>
                <a:latin typeface="+mn-lt"/>
                <a:ea typeface="Times New Roman"/>
                <a:cs typeface="Times New Roman"/>
                <a:sym typeface="Times New Roman"/>
              </a:rPr>
            </a:br>
            <a:endParaRPr lang="en-US" sz="2000" b="1" dirty="0" smtClean="0">
              <a:solidFill>
                <a:srgbClr val="2B3541"/>
              </a:solidFill>
              <a:latin typeface="+mn-lt"/>
              <a:ea typeface="Times New Roman"/>
              <a:cs typeface="Times New Roman"/>
              <a:sym typeface="Times New Roman"/>
            </a:endParaRPr>
          </a:p>
          <a:p>
            <a:pPr lvl="0">
              <a:lnSpc>
                <a:spcPct val="162162"/>
              </a:lnSpc>
              <a:buClr>
                <a:srgbClr val="2B3541"/>
              </a:buClr>
              <a:buSzPts val="1850"/>
            </a:pPr>
            <a:r>
              <a:rPr lang="en-US" sz="2000" b="1" dirty="0" smtClean="0">
                <a:solidFill>
                  <a:srgbClr val="2B3541"/>
                </a:solidFill>
                <a:latin typeface="+mn-lt"/>
                <a:ea typeface="Times New Roman"/>
                <a:cs typeface="Times New Roman"/>
                <a:sym typeface="Times New Roman"/>
              </a:rPr>
              <a:t>Working demo video </a:t>
            </a:r>
            <a:r>
              <a:rPr lang="en-US" sz="2000" b="1" dirty="0" err="1" smtClean="0">
                <a:solidFill>
                  <a:srgbClr val="2B3541"/>
                </a:solidFill>
                <a:latin typeface="+mn-lt"/>
                <a:ea typeface="Times New Roman"/>
                <a:cs typeface="Times New Roman"/>
                <a:sym typeface="Times New Roman"/>
              </a:rPr>
              <a:t>Url</a:t>
            </a:r>
            <a:r>
              <a:rPr lang="en-US" sz="2000" b="1" dirty="0">
                <a:solidFill>
                  <a:srgbClr val="2B3541"/>
                </a:solidFill>
                <a:latin typeface="+mn-lt"/>
                <a:ea typeface="Times New Roman"/>
                <a:cs typeface="Times New Roman"/>
                <a:sym typeface="Times New Roman"/>
              </a:rPr>
              <a:t> </a:t>
            </a:r>
            <a:r>
              <a:rPr lang="en-US" sz="2000" b="1" dirty="0" smtClean="0">
                <a:solidFill>
                  <a:srgbClr val="2B3541"/>
                </a:solidFill>
                <a:latin typeface="+mn-lt"/>
                <a:ea typeface="Times New Roman"/>
                <a:cs typeface="Times New Roman"/>
                <a:sym typeface="Times New Roman"/>
              </a:rPr>
              <a:t>- </a:t>
            </a:r>
            <a:r>
              <a:rPr lang="en-US" sz="2000" b="1" dirty="0" smtClean="0">
                <a:solidFill>
                  <a:srgbClr val="2B3541"/>
                </a:solidFill>
                <a:latin typeface="+mn-lt"/>
                <a:ea typeface="Times New Roman"/>
                <a:cs typeface="Times New Roman"/>
                <a:sym typeface="Times New Roman"/>
                <a:hlinkClick r:id="rId4"/>
              </a:rPr>
              <a:t>https</a:t>
            </a:r>
            <a:r>
              <a:rPr lang="en-US" sz="2000" b="1" dirty="0">
                <a:solidFill>
                  <a:srgbClr val="2B3541"/>
                </a:solidFill>
                <a:latin typeface="+mn-lt"/>
                <a:ea typeface="Times New Roman"/>
                <a:cs typeface="Times New Roman"/>
                <a:sym typeface="Times New Roman"/>
                <a:hlinkClick r:id="rId4"/>
              </a:rPr>
              <a:t>://drive.google.com/drive/folders/1XEcVYM7bdPAxEp8QE-oPHWkULiR-7CX7?usp=sharing</a:t>
            </a:r>
            <a:endParaRPr sz="2000" b="1" dirty="0">
              <a:latin typeface="+mn-lt"/>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latin typeface="Times New Roman" panose="02020603050405020304" pitchFamily="18" charset="0"/>
                <a:cs typeface="Times New Roman" panose="02020603050405020304" pitchFamily="18" charset="0"/>
              </a:rPr>
              <a:t>1. </a:t>
            </a:r>
            <a:r>
              <a:rPr lang="en-US" sz="2000" b="1" dirty="0">
                <a:latin typeface="+mn-lt"/>
                <a:cs typeface="Times New Roman" panose="02020603050405020304" pitchFamily="18" charset="0"/>
              </a:rPr>
              <a:t>AI-Powered Multilingual Learning &amp; Voice Support</a:t>
            </a:r>
          </a:p>
          <a:p>
            <a:r>
              <a:rPr lang="en-US" sz="2000" dirty="0">
                <a:latin typeface="+mn-lt"/>
                <a:cs typeface="Times New Roman" panose="02020603050405020304" pitchFamily="18" charset="0"/>
              </a:rPr>
              <a:t>The solution can be further improved by adding support for multiple languages and a voice-based assistant feature that would enable students to upload material or post questions in the language they are most comfortable with</a:t>
            </a:r>
            <a:r>
              <a:rPr lang="en-US" sz="2000" dirty="0" smtClean="0">
                <a:latin typeface="+mn-lt"/>
                <a:cs typeface="Times New Roman" panose="02020603050405020304" pitchFamily="18" charset="0"/>
              </a:rPr>
              <a:t>.</a:t>
            </a:r>
          </a:p>
          <a:p>
            <a:r>
              <a:rPr lang="en-US" sz="2000" dirty="0" smtClean="0">
                <a:latin typeface="+mn-lt"/>
                <a:cs typeface="Times New Roman" panose="02020603050405020304" pitchFamily="18" charset="0"/>
              </a:rPr>
              <a:t/>
            </a:r>
            <a:br>
              <a:rPr lang="en-US" sz="2000" dirty="0" smtClean="0">
                <a:latin typeface="+mn-lt"/>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a:t>
            </a:r>
            <a:r>
              <a:rPr lang="en-US" sz="2000" b="1" dirty="0">
                <a:latin typeface="+mn-lt"/>
                <a:cs typeface="Times New Roman" panose="02020603050405020304" pitchFamily="18" charset="0"/>
              </a:rPr>
              <a:t>Personalized Learning Analytics &amp; LMS Integration</a:t>
            </a:r>
          </a:p>
          <a:p>
            <a:r>
              <a:rPr lang="en-US" sz="2000" dirty="0">
                <a:latin typeface="+mn-lt"/>
                <a:cs typeface="Times New Roman" panose="02020603050405020304" pitchFamily="18" charset="0"/>
              </a:rPr>
              <a:t>This software can be used together with Learning Management System (LMS) like Moodle and Google Classroom to evaluate students’ performance, suggest study programs and provide adaptive learning according to their results. It will allow teachers to track learning results and provide more efficient teaching</a:t>
            </a:r>
            <a:r>
              <a:rPr lang="en-US" sz="2000" dirty="0" smtClean="0">
                <a:latin typeface="+mn-lt"/>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a:latin typeface="+mn-lt"/>
                <a:cs typeface="Times New Roman" panose="02020603050405020304" pitchFamily="18" charset="0"/>
              </a:rPr>
              <a:t>These future enhancements will make the Course Content Simplification Agent more intelligent, accessible, and suitable for modern digital learning environments</a:t>
            </a:r>
            <a:r>
              <a:rPr lang="en-US" sz="2000" dirty="0"/>
              <a:t>.</a:t>
            </a:r>
            <a:endParaRPr lang="en-US" sz="2000" dirty="0">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sym typeface="Arial"/>
              </a:rPr>
              <a:t>Certificates Earned:</a:t>
            </a:r>
            <a:endParaRPr sz="2800" dirty="0"/>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2005745" y="1695962"/>
            <a:ext cx="6024349" cy="454969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a:t>
            </a:r>
            <a:r>
              <a:rPr lang="en-US" sz="2800" b="0" i="0" u="none" strike="noStrike" cap="none" dirty="0">
                <a:solidFill>
                  <a:srgbClr val="000000"/>
                </a:solidFill>
                <a:latin typeface="Arial"/>
                <a:ea typeface="Arial"/>
                <a:cs typeface="Arial"/>
                <a:sym typeface="Arial"/>
              </a:rPr>
              <a:t>​</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1630296" y="1477578"/>
            <a:ext cx="8078327" cy="501084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1153</TotalTime>
  <Words>1145</Words>
  <Application>Microsoft Office PowerPoint</Application>
  <PresentationFormat>Widescreen</PresentationFormat>
  <Paragraphs>126</Paragraphs>
  <Slides>23</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BOB Screenshot</vt:lpstr>
      <vt:lpstr>PowerPoint Presentation</vt:lpstr>
      <vt:lpstr>PowerPoint Presentation</vt:lpstr>
      <vt:lpstr>Application Screenshots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dc:title>
  <dc:creator>Manda Anirudh</dc:creator>
  <cp:lastModifiedBy>Shree</cp:lastModifiedBy>
  <cp:revision>27</cp:revision>
  <dcterms:created xsi:type="dcterms:W3CDTF">2025-07-08T05:06:56Z</dcterms:created>
  <dcterms:modified xsi:type="dcterms:W3CDTF">2026-07-10T13:33:29Z</dcterms:modified>
</cp:coreProperties>
</file>